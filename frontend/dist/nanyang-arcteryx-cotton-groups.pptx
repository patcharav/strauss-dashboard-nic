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330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ARC’TERYX  ·  MARKET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Arc’teryx Top 5 Collections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&amp; Women · inferred from brand language, franchise depth &amp; consistent best-seller signals — not internal sales data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457200" cy="457200"/>
          </a:xfrm>
          <a:prstGeom prst="ellipse">
            <a:avLst/>
          </a:prstGeom>
          <a:solidFill>
            <a:srgbClr val="2330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72768"/>
            <a:ext cx="164592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48132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57200" y="2066544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" y="2203704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3856" y="213055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572000" y="2130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$500–900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33856" y="2368296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GORE-TEX hardshell (flagship)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133856" y="254203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ICONIC · full SL/AR/SV family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" y="2971800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33856" y="289864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0" y="28986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$240–360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33856" y="3136392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insulated midlayer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33856" y="331012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“CULT FOLLOWING” best-seller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57200" y="3602736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03504" y="3739896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33856" y="36667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0" y="3666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$160–340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33856" y="390448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Softshell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33856" y="407822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BRAND-STATED best-selling softshell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370832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3504" y="4507992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32" name="Text 29"/>
          <p:cNvSpPr/>
          <p:nvPr/>
        </p:nvSpPr>
        <p:spPr>
          <a:xfrm>
            <a:off x="603504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33856" y="443484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Cerium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4572000" y="4434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~$400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133856" y="4672584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850-fill down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33856" y="484632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down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57200" y="5138928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03504" y="5276088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39" name="Text 36"/>
          <p:cNvSpPr/>
          <p:nvPr/>
        </p:nvSpPr>
        <p:spPr>
          <a:xfrm>
            <a:off x="603504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33856" y="52029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Squamish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4572000" y="5202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$159–200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133856" y="5440680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Windshell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133856" y="561441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ICONIC · sells out fast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245352" y="1481328"/>
            <a:ext cx="457200" cy="457200"/>
          </a:xfrm>
          <a:prstGeom prst="ellipse">
            <a:avLst/>
          </a:prstGeom>
          <a:solidFill>
            <a:srgbClr val="23303A"/>
          </a:solidFill>
          <a:ln/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72768"/>
            <a:ext cx="164592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812280" y="1481328"/>
            <a:ext cx="4919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6245352" y="2066544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6391656" y="2203704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49" name="Text 45"/>
          <p:cNvSpPr/>
          <p:nvPr/>
        </p:nvSpPr>
        <p:spPr>
          <a:xfrm>
            <a:off x="6391656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6922008" y="2130552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</a:t>
            </a:r>
            <a:endParaRPr lang="en-US" sz="1350" dirty="0"/>
          </a:p>
        </p:txBody>
      </p:sp>
      <p:sp>
        <p:nvSpPr>
          <p:cNvPr id="51" name="Text 47"/>
          <p:cNvSpPr/>
          <p:nvPr/>
        </p:nvSpPr>
        <p:spPr>
          <a:xfrm>
            <a:off x="10360152" y="21305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$240–360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6922008" y="2368296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insulated midlayer</a:t>
            </a:r>
            <a:endParaRPr lang="en-US" sz="950" dirty="0"/>
          </a:p>
        </p:txBody>
      </p:sp>
      <p:sp>
        <p:nvSpPr>
          <p:cNvPr id="53" name="Text 49"/>
          <p:cNvSpPr/>
          <p:nvPr/>
        </p:nvSpPr>
        <p:spPr>
          <a:xfrm>
            <a:off x="6922008" y="2542032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STAPLE · perennial best-seller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6245352" y="2834640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6391656" y="2971800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56" name="Text 52"/>
          <p:cNvSpPr/>
          <p:nvPr/>
        </p:nvSpPr>
        <p:spPr>
          <a:xfrm>
            <a:off x="6391656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6922008" y="2898648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Cerium</a:t>
            </a:r>
            <a:endParaRPr lang="en-US" sz="1350" dirty="0"/>
          </a:p>
        </p:txBody>
      </p:sp>
      <p:sp>
        <p:nvSpPr>
          <p:cNvPr id="58" name="Text 54"/>
          <p:cNvSpPr/>
          <p:nvPr/>
        </p:nvSpPr>
        <p:spPr>
          <a:xfrm>
            <a:off x="10360152" y="28986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~$400</a:t>
            </a:r>
            <a:endParaRPr lang="en-US" sz="1200" dirty="0"/>
          </a:p>
        </p:txBody>
      </p:sp>
      <p:sp>
        <p:nvSpPr>
          <p:cNvPr id="59" name="Text 55"/>
          <p:cNvSpPr/>
          <p:nvPr/>
        </p:nvSpPr>
        <p:spPr>
          <a:xfrm>
            <a:off x="6922008" y="3136392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850-fill down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6922008" y="331012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reviews ~4.2★ (REI)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6245352" y="3602736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6391656" y="3739896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63" name="Text 59"/>
          <p:cNvSpPr/>
          <p:nvPr/>
        </p:nvSpPr>
        <p:spPr>
          <a:xfrm>
            <a:off x="6391656" y="3739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4" name="Text 60"/>
          <p:cNvSpPr/>
          <p:nvPr/>
        </p:nvSpPr>
        <p:spPr>
          <a:xfrm>
            <a:off x="6922008" y="3666744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350" dirty="0"/>
          </a:p>
        </p:txBody>
      </p:sp>
      <p:sp>
        <p:nvSpPr>
          <p:cNvPr id="65" name="Text 61"/>
          <p:cNvSpPr/>
          <p:nvPr/>
        </p:nvSpPr>
        <p:spPr>
          <a:xfrm>
            <a:off x="10360152" y="3666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$500–900</a:t>
            </a:r>
            <a:endParaRPr lang="en-US" sz="1200" dirty="0"/>
          </a:p>
        </p:txBody>
      </p:sp>
      <p:sp>
        <p:nvSpPr>
          <p:cNvPr id="66" name="Text 62"/>
          <p:cNvSpPr/>
          <p:nvPr/>
        </p:nvSpPr>
        <p:spPr>
          <a:xfrm>
            <a:off x="6922008" y="390448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GORE-TEX hardshell</a:t>
            </a:r>
            <a:endParaRPr lang="en-US" sz="950" dirty="0"/>
          </a:p>
        </p:txBody>
      </p:sp>
      <p:sp>
        <p:nvSpPr>
          <p:cNvPr id="67" name="Text 63"/>
          <p:cNvSpPr/>
          <p:nvPr/>
        </p:nvSpPr>
        <p:spPr>
          <a:xfrm>
            <a:off x="6922008" y="4078224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· women’s colorways</a:t>
            </a:r>
            <a:endParaRPr lang="en-US" sz="800" dirty="0"/>
          </a:p>
        </p:txBody>
      </p:sp>
      <p:sp>
        <p:nvSpPr>
          <p:cNvPr id="68" name="Shape 64"/>
          <p:cNvSpPr/>
          <p:nvPr/>
        </p:nvSpPr>
        <p:spPr>
          <a:xfrm>
            <a:off x="6245352" y="4370832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6391656" y="4507992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70" name="Text 66"/>
          <p:cNvSpPr/>
          <p:nvPr/>
        </p:nvSpPr>
        <p:spPr>
          <a:xfrm>
            <a:off x="6391656" y="4507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71" name="Text 67"/>
          <p:cNvSpPr/>
          <p:nvPr/>
        </p:nvSpPr>
        <p:spPr>
          <a:xfrm>
            <a:off x="6922008" y="443484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</a:t>
            </a:r>
            <a:endParaRPr lang="en-US" sz="1350" dirty="0"/>
          </a:p>
        </p:txBody>
      </p:sp>
      <p:sp>
        <p:nvSpPr>
          <p:cNvPr id="72" name="Text 68"/>
          <p:cNvSpPr/>
          <p:nvPr/>
        </p:nvSpPr>
        <p:spPr>
          <a:xfrm>
            <a:off x="10360152" y="4434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$160–340</a:t>
            </a:r>
            <a:endParaRPr lang="en-US" sz="1200" dirty="0"/>
          </a:p>
        </p:txBody>
      </p:sp>
      <p:sp>
        <p:nvSpPr>
          <p:cNvPr id="73" name="Text 69"/>
          <p:cNvSpPr/>
          <p:nvPr/>
        </p:nvSpPr>
        <p:spPr>
          <a:xfrm>
            <a:off x="6922008" y="4672584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Softshell</a:t>
            </a:r>
            <a:endParaRPr lang="en-US" sz="950" dirty="0"/>
          </a:p>
        </p:txBody>
      </p:sp>
      <p:sp>
        <p:nvSpPr>
          <p:cNvPr id="74" name="Text 70"/>
          <p:cNvSpPr/>
          <p:nvPr/>
        </p:nvSpPr>
        <p:spPr>
          <a:xfrm>
            <a:off x="6922008" y="4846320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BRAND-STATED best-selling softshell</a:t>
            </a:r>
            <a:endParaRPr lang="en-US" sz="800" dirty="0"/>
          </a:p>
        </p:txBody>
      </p:sp>
      <p:sp>
        <p:nvSpPr>
          <p:cNvPr id="75" name="Shape 71"/>
          <p:cNvSpPr/>
          <p:nvPr/>
        </p:nvSpPr>
        <p:spPr>
          <a:xfrm>
            <a:off x="6245352" y="5138928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6" name="Shape 72"/>
          <p:cNvSpPr/>
          <p:nvPr/>
        </p:nvSpPr>
        <p:spPr>
          <a:xfrm>
            <a:off x="6391656" y="5276088"/>
            <a:ext cx="402336" cy="402336"/>
          </a:xfrm>
          <a:prstGeom prst="ellipse">
            <a:avLst/>
          </a:prstGeom>
          <a:solidFill>
            <a:srgbClr val="5A7D52"/>
          </a:solidFill>
          <a:ln/>
        </p:spPr>
      </p:sp>
      <p:sp>
        <p:nvSpPr>
          <p:cNvPr id="77" name="Text 73"/>
          <p:cNvSpPr/>
          <p:nvPr/>
        </p:nvSpPr>
        <p:spPr>
          <a:xfrm>
            <a:off x="6391656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8" name="Text 74"/>
          <p:cNvSpPr/>
          <p:nvPr/>
        </p:nvSpPr>
        <p:spPr>
          <a:xfrm>
            <a:off x="6922008" y="5202936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Squamish</a:t>
            </a:r>
            <a:endParaRPr lang="en-US" sz="1350" dirty="0"/>
          </a:p>
        </p:txBody>
      </p:sp>
      <p:sp>
        <p:nvSpPr>
          <p:cNvPr id="79" name="Text 75"/>
          <p:cNvSpPr/>
          <p:nvPr/>
        </p:nvSpPr>
        <p:spPr>
          <a:xfrm>
            <a:off x="10360152" y="52029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$159–200</a:t>
            </a:r>
            <a:endParaRPr lang="en-US" sz="1200" dirty="0"/>
          </a:p>
        </p:txBody>
      </p:sp>
      <p:sp>
        <p:nvSpPr>
          <p:cNvPr id="80" name="Text 76"/>
          <p:cNvSpPr/>
          <p:nvPr/>
        </p:nvSpPr>
        <p:spPr>
          <a:xfrm>
            <a:off x="6922008" y="5440680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Windshell</a:t>
            </a:r>
            <a:endParaRPr lang="en-US" sz="950" dirty="0"/>
          </a:p>
        </p:txBody>
      </p:sp>
      <p:sp>
        <p:nvSpPr>
          <p:cNvPr id="81" name="Text 77"/>
          <p:cNvSpPr/>
          <p:nvPr/>
        </p:nvSpPr>
        <p:spPr>
          <a:xfrm>
            <a:off x="6922008" y="5614416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PACKABLE · fitted</a:t>
            </a:r>
            <a:endParaRPr lang="en-US" sz="800" dirty="0"/>
          </a:p>
        </p:txBody>
      </p:sp>
      <p:sp>
        <p:nvSpPr>
          <p:cNvPr id="82" name="Shape 78"/>
          <p:cNvSpPr/>
          <p:nvPr/>
        </p:nvSpPr>
        <p:spPr>
          <a:xfrm>
            <a:off x="457200" y="594360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6E9E6"/>
          </a:solidFill>
          <a:ln/>
        </p:spPr>
      </p:sp>
      <p:sp>
        <p:nvSpPr>
          <p:cNvPr id="83" name="Text 79"/>
          <p:cNvSpPr/>
          <p:nvPr/>
        </p:nvSpPr>
        <p:spPr>
          <a:xfrm>
            <a:off x="685800" y="594360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COTTON 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are technical (GORE-TEX / down / synthetic / softshell) — cotton can’t enter here. Cotton’s opportunity sits in the lifestyle range (next pages).</a:t>
            </a:r>
            <a:endParaRPr lang="en-US" sz="1050" dirty="0"/>
          </a:p>
        </p:txBody>
      </p:sp>
      <p:sp>
        <p:nvSpPr>
          <p:cNvPr id="84" name="Text 80"/>
          <p:cNvSpPr/>
          <p:nvPr/>
        </p:nvSpPr>
        <p:spPr>
          <a:xfrm>
            <a:off x="457200" y="647395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arcteryx.com franchise pages (Gamma “best-selling softshell”), product pages &amp; consistent third-party best-seller reviews.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330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PROPOSAL  ·  FABRIC GROUPS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Cotton Fabric Groups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· Cotton Blend · Performance Cotton — offered together so Arc’teryx selects by product need &amp; hand-feel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5304" cy="3657600"/>
          </a:xfrm>
          <a:prstGeom prst="roundRect">
            <a:avLst>
              <a:gd name="adj" fmla="val 2046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3575304" cy="109728"/>
          </a:xfrm>
          <a:prstGeom prst="rect">
            <a:avLst/>
          </a:prstGeom>
          <a:solidFill>
            <a:srgbClr val="5A7D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0195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0428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/ organic cotton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59689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soft-hand cotton, ideally organic or recycled for sustainability credit.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3291840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natural hand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Breathable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story (GOTS / recycled)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736592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 </a:t>
            </a:r>
            <a:pPr indent="0" marL="0">
              <a:buNone/>
            </a:pPr>
            <a:r>
              <a:rPr lang="en-US" sz="9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logo tees, simple basics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06824" y="1627632"/>
            <a:ext cx="3575304" cy="3657600"/>
          </a:xfrm>
          <a:prstGeom prst="roundRect">
            <a:avLst>
              <a:gd name="adj" fmla="val 2046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1627632"/>
            <a:ext cx="3575304" cy="109728"/>
          </a:xfrm>
          <a:prstGeom prst="rect">
            <a:avLst/>
          </a:prstGeom>
          <a:solidFill>
            <a:srgbClr val="5E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190195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Blend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81144" y="230428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+ Tencel / poly / elastane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81144" y="259689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blended for better drape, durability, stretch and shape retention.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9432" y="3291840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shape, less shrink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stretch &amp; durability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Smoother, refined hand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81144" y="4736592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 </a:t>
            </a:r>
            <a:pPr indent="0" marL="0">
              <a:buNone/>
            </a:pPr>
            <a:r>
              <a:rPr lang="en-US" sz="9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tees, hoodies, casual shirts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56448" y="1627632"/>
            <a:ext cx="3575304" cy="3657600"/>
          </a:xfrm>
          <a:prstGeom prst="roundRect">
            <a:avLst>
              <a:gd name="adj" fmla="val 2046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56448" y="1627632"/>
            <a:ext cx="3575304" cy="109728"/>
          </a:xfrm>
          <a:prstGeom prst="rect">
            <a:avLst/>
          </a:prstGeom>
          <a:solidFill>
            <a:srgbClr val="C2611A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190195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Cotton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30768" y="230428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+ built-in technology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30768" y="2596896"/>
            <a:ext cx="3026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Cotton-rich fabric engineered to behave technically — strongest fit for Arc’teryx.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49056" y="3291840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Moisture-wicking / quick-dry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DWR water-repellency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Soil-release · anti-odor · stretch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30768" y="4736592"/>
            <a:ext cx="3026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26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 </a:t>
            </a:r>
            <a:pPr indent="0" marL="0">
              <a:buNone/>
            </a:pPr>
            <a:r>
              <a:rPr lang="en-US" sz="9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Active-casual, travel, polo, hybrid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5541264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AF0E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541264"/>
            <a:ext cx="10863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6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POSITION 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all three groups together so Arc’teryx can choose by product need, hand-feel and price point — always paired with sustainability credentials (organic / recycled, PFAS-free).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23620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Cotton’s home at Arc’teryx is the lifestyle range only — not the technical franchises. Groups &amp; specs are Nan Yang proposals.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330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 · 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&amp; Cotton-Blend Products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basics &amp; upgraded blends · with reference direction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99616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99616"/>
            <a:ext cx="91440" cy="1024128"/>
          </a:xfrm>
          <a:prstGeom prst="rect">
            <a:avLst/>
          </a:prstGeom>
          <a:solidFill>
            <a:srgbClr val="5A7D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00200"/>
            <a:ext cx="169164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" y="1600200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78608" y="162763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A7D52"/>
          </a:solidFill>
          <a:ln/>
        </p:spPr>
      </p:sp>
      <p:sp>
        <p:nvSpPr>
          <p:cNvPr id="11" name="Text 8"/>
          <p:cNvSpPr/>
          <p:nvPr/>
        </p:nvSpPr>
        <p:spPr>
          <a:xfrm>
            <a:off x="2578608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78608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Cotton Tee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78608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Emblem / Arc’Word tees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97880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organic cotton (GOTS) · ~150–170 gsm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97880" y="2048256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Supersoft · tagless-ready · sustainability story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2615184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615184"/>
            <a:ext cx="91440" cy="1024128"/>
          </a:xfrm>
          <a:prstGeom prst="rect">
            <a:avLst/>
          </a:prstGeom>
          <a:solidFill>
            <a:srgbClr val="5A7D5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2715768"/>
            <a:ext cx="1691640" cy="8229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76656" y="2715768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578608" y="274320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A7D52"/>
          </a:solidFill>
          <a:ln/>
        </p:spPr>
      </p:sp>
      <p:sp>
        <p:nvSpPr>
          <p:cNvPr id="21" name="Text 17"/>
          <p:cNvSpPr/>
          <p:nvPr/>
        </p:nvSpPr>
        <p:spPr>
          <a:xfrm>
            <a:off x="2578608" y="2743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78608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Crew Sweat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578608" y="33284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Casual lifestyle layers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897880" y="2779776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Cotton-rich fleece-back · ~300–340 gsm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897880" y="3163824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Cozy · everyday warmth · recycled-cotton option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57200" y="3730752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7200" y="3730752"/>
            <a:ext cx="91440" cy="1024128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" y="3831336"/>
            <a:ext cx="1691640" cy="82296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76656" y="3831336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78608" y="3858768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31" name="Text 26"/>
          <p:cNvSpPr/>
          <p:nvPr/>
        </p:nvSpPr>
        <p:spPr>
          <a:xfrm>
            <a:off x="2578608" y="38587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BLEND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2578608" y="4151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Cotton–Tencel Tee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2578608" y="4443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Premium lifestyle tees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897880" y="3895344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+ Tencel + 3–5% elastane · ~150–170 gsm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897880" y="4279392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drape · resists sag · light stretch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457200" y="4846320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57200" y="4846320"/>
            <a:ext cx="91440" cy="1024128"/>
          </a:xfrm>
          <a:prstGeom prst="rect">
            <a:avLst/>
          </a:prstGeom>
          <a:solidFill>
            <a:srgbClr val="5E7A8C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4946904"/>
            <a:ext cx="1691640" cy="82296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76656" y="4946904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578608" y="4974336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5E7A8C"/>
          </a:solidFill>
          <a:ln/>
        </p:spPr>
      </p:sp>
      <p:sp>
        <p:nvSpPr>
          <p:cNvPr id="41" name="Text 35"/>
          <p:cNvSpPr/>
          <p:nvPr/>
        </p:nvSpPr>
        <p:spPr>
          <a:xfrm>
            <a:off x="2578608" y="4974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BLEND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2578608" y="5266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French Terry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2578608" y="5559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Hoodies &amp; sweats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5897880" y="5010912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Cotton-poly French terry, brushed back · ~280–320 gsm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5897880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low-shrink · holds shape after wash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(internal reference) — replace with real fabric photos. Suggested specs are Nan Yang proposals, not final formulas.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330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D8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 · 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Cotton Products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D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engineered with technology — wicking · DWR · stretch · soil-release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99616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99616"/>
            <a:ext cx="91440" cy="1024128"/>
          </a:xfrm>
          <a:prstGeom prst="rect">
            <a:avLst/>
          </a:prstGeom>
          <a:solidFill>
            <a:srgbClr val="C261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600200"/>
            <a:ext cx="169164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" y="1600200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78608" y="162763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C2611A"/>
          </a:solidFill>
          <a:ln/>
        </p:spPr>
      </p:sp>
      <p:sp>
        <p:nvSpPr>
          <p:cNvPr id="11" name="Text 8"/>
          <p:cNvSpPr/>
          <p:nvPr/>
        </p:nvSpPr>
        <p:spPr>
          <a:xfrm>
            <a:off x="2578608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78608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Wicking Cotton Jersey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578608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Active-casual / base tee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97880" y="1664208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Cotton-rich + hydrophilic wicking finish · ~160 gsm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97880" y="2048256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feel, poly-like dry-time · anti-odor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2615184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615184"/>
            <a:ext cx="91440" cy="1024128"/>
          </a:xfrm>
          <a:prstGeom prst="rect">
            <a:avLst/>
          </a:prstGeom>
          <a:solidFill>
            <a:srgbClr val="C2611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" y="2715768"/>
            <a:ext cx="1691640" cy="82296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76656" y="2715768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578608" y="2743200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C2611A"/>
          </a:solidFill>
          <a:ln/>
        </p:spPr>
      </p:sp>
      <p:sp>
        <p:nvSpPr>
          <p:cNvPr id="21" name="Text 17"/>
          <p:cNvSpPr/>
          <p:nvPr/>
        </p:nvSpPr>
        <p:spPr>
          <a:xfrm>
            <a:off x="2578608" y="27432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78608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Cotton–Nylon Stretch Twill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2578608" y="33284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Casual / travel pants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897880" y="2779776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Cotton-nylon + mechanical stretch + DWR · ~220–260 gsm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5897880" y="3163824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Water-repellent · rugged · mobile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57200" y="3730752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57200" y="3730752"/>
            <a:ext cx="91440" cy="1024128"/>
          </a:xfrm>
          <a:prstGeom prst="rect">
            <a:avLst/>
          </a:prstGeom>
          <a:solidFill>
            <a:srgbClr val="C2611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6656" y="3831336"/>
            <a:ext cx="1691640" cy="822960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76656" y="3831336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78608" y="3858768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C2611A"/>
          </a:solidFill>
          <a:ln/>
        </p:spPr>
      </p:sp>
      <p:sp>
        <p:nvSpPr>
          <p:cNvPr id="31" name="Text 26"/>
          <p:cNvSpPr/>
          <p:nvPr/>
        </p:nvSpPr>
        <p:spPr>
          <a:xfrm>
            <a:off x="2578608" y="38587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2578608" y="41513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Easy-Care Stretch Poplin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2578608" y="44439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Casual &amp; dress shirts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897880" y="3895344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Cotton-poly poplin + elastane, easy-care · ~120–150 gsm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897880" y="4279392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Low-iron · stretch · crisp drape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457200" y="4846320"/>
            <a:ext cx="11274552" cy="1024128"/>
          </a:xfrm>
          <a:prstGeom prst="roundRect">
            <a:avLst>
              <a:gd name="adj" fmla="val 6250"/>
            </a:avLst>
          </a:prstGeom>
          <a:solidFill>
            <a:srgbClr val="F3F5F4"/>
          </a:solidFill>
          <a:ln/>
          <a:effectLst>
            <a:outerShdw sx="100000" sy="100000" kx="0" ky="0" algn="bl" rotWithShape="0" blurRad="88900" dist="25400" dir="5400000">
              <a:srgbClr val="000000">
                <a:alpha val="13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57200" y="4846320"/>
            <a:ext cx="91440" cy="1024128"/>
          </a:xfrm>
          <a:prstGeom prst="rect">
            <a:avLst/>
          </a:prstGeom>
          <a:solidFill>
            <a:srgbClr val="C2611A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4946904"/>
            <a:ext cx="1691640" cy="82296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676656" y="4946904"/>
            <a:ext cx="1691640" cy="822960"/>
          </a:xfrm>
          <a:prstGeom prst="rect">
            <a:avLst/>
          </a:prstGeom>
          <a:ln w="9525">
            <a:solidFill>
              <a:srgbClr val="C9CDD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578608" y="4974336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C2611A"/>
          </a:solidFill>
          <a:ln/>
        </p:spPr>
      </p:sp>
      <p:sp>
        <p:nvSpPr>
          <p:cNvPr id="41" name="Text 35"/>
          <p:cNvSpPr/>
          <p:nvPr/>
        </p:nvSpPr>
        <p:spPr>
          <a:xfrm>
            <a:off x="2578608" y="49743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2578608" y="5266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Cotton Piqué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2578608" y="5559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Casual polo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5897880" y="5010912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Cotton-poly piqué + soil-release / moisture · ~180–200 gsm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5897880" y="5394960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 </a:t>
            </a:r>
            <a:pPr indent="0" marL="0">
              <a:buNone/>
            </a:pPr>
            <a:r>
              <a:rPr lang="en-US" sz="1050" i="1" dirty="0">
                <a:solidFill>
                  <a:srgbClr val="5C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Stain-shedding · keeps fresh · polo texture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457200" y="5998464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EAF0E7"/>
          </a:solidFill>
          <a:ln/>
        </p:spPr>
      </p:sp>
      <p:sp>
        <p:nvSpPr>
          <p:cNvPr id="47" name="Text 41"/>
          <p:cNvSpPr/>
          <p:nvPr/>
        </p:nvSpPr>
        <p:spPr>
          <a:xfrm>
            <a:off x="685800" y="5998464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56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WORTH EXPLORING   </a:t>
            </a:r>
            <a:pPr indent="0" marL="0">
              <a:buNone/>
            </a:pPr>
            <a:r>
              <a:rPr lang="en-US" sz="1050" dirty="0">
                <a:solidFill>
                  <a:srgbClr val="1C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swatch with sustainability credentials (organic / recycled, PFAS-free) to clear Arc’teryx’s standards. Accessories &amp; Veilance are secondary entry points.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457200" y="6510528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Swatch tiles illustrate fabric direction (internal reference) — replace with real fabric photos. Suggested specs are Nan Yang proposals, not final formulas.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 Yang Cotton Proposal for Arc'teryx</dc:title>
  <dc:subject>PptxGenJS Presentation</dc:subject>
  <dc:creator>Nan Yang Textile Industry Co., Ltd.</dc:creator>
  <cp:lastModifiedBy>Nan Yang Textile Industry Co., Ltd.</cp:lastModifiedBy>
  <cp:revision>1</cp:revision>
  <dcterms:created xsi:type="dcterms:W3CDTF">2026-06-17T15:09:11Z</dcterms:created>
  <dcterms:modified xsi:type="dcterms:W3CDTF">2026-06-17T15:09:11Z</dcterms:modified>
</cp:coreProperties>
</file>