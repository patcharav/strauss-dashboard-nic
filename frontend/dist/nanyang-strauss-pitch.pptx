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STRAUSS  ·  MARKET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Strauss — Top 5 Collections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&amp; Women · inferred from website signals (badges, hero placement, best-selling sort) — not internal sales data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72768"/>
            <a:ext cx="164592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481328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200" y="2066544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" y="2203704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33856" y="2130552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e.s.motion 2020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0" y="2130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3856" y="2368296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cargo work pant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" y="2542032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SELLER · “7+ Million Worn”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2834640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" y="2971800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33856" y="289864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e.s.motion ten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0" y="28986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33856" y="3136392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tailored work pants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33856" y="3310128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BANNER · 5 colors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3602736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3504" y="3739896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33856" y="366674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e.s.t:aktik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72000" y="3666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$40–130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33856" y="390448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ripstop, built for heat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33856" y="4078224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NEWEST LAUNCH · own page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370832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3504" y="4507992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32" name="Text 29"/>
          <p:cNvSpPr/>
          <p:nvPr/>
        </p:nvSpPr>
        <p:spPr>
          <a:xfrm>
            <a:off x="603504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33856" y="443484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e.s.vintage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4572000" y="4434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$120–130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33856" y="4672584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multipocket bibs &amp; pants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33856" y="4846320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SELLER bib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57200" y="5138928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03504" y="5276088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39" name="Text 36"/>
          <p:cNvSpPr/>
          <p:nvPr/>
        </p:nvSpPr>
        <p:spPr>
          <a:xfrm>
            <a:off x="603504" y="5276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33856" y="52029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e.s.iconic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4572000" y="5202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$80–90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133856" y="5440680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vests &amp; value work pants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133856" y="5614416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STRAUSS PICK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245352" y="1481328"/>
            <a:ext cx="457200" cy="457200"/>
          </a:xfrm>
          <a:prstGeom prst="ellipse">
            <a:avLst/>
          </a:prstGeom>
          <a:solidFill>
            <a:srgbClr val="2B3640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72768"/>
            <a:ext cx="164592" cy="27432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812280" y="1481328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</a:t>
            </a:r>
            <a:endParaRPr lang="en-US" sz="1700" dirty="0"/>
          </a:p>
        </p:txBody>
      </p:sp>
      <p:sp>
        <p:nvSpPr>
          <p:cNvPr id="47" name="Shape 43"/>
          <p:cNvSpPr/>
          <p:nvPr/>
        </p:nvSpPr>
        <p:spPr>
          <a:xfrm>
            <a:off x="6245352" y="2066544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6391656" y="2203704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49" name="Text 45"/>
          <p:cNvSpPr/>
          <p:nvPr/>
        </p:nvSpPr>
        <p:spPr>
          <a:xfrm>
            <a:off x="6391656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6922008" y="2130552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e.s.motion ten</a:t>
            </a:r>
            <a:endParaRPr lang="en-US" sz="1350" dirty="0"/>
          </a:p>
        </p:txBody>
      </p:sp>
      <p:sp>
        <p:nvSpPr>
          <p:cNvPr id="51" name="Text 47"/>
          <p:cNvSpPr/>
          <p:nvPr/>
        </p:nvSpPr>
        <p:spPr>
          <a:xfrm>
            <a:off x="10360152" y="2130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$99–169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6922008" y="2368296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pants, vests, hybrid jackets</a:t>
            </a:r>
            <a:endParaRPr lang="en-US" sz="950" dirty="0"/>
          </a:p>
        </p:txBody>
      </p:sp>
      <p:sp>
        <p:nvSpPr>
          <p:cNvPr id="53" name="Text 49"/>
          <p:cNvSpPr/>
          <p:nvPr/>
        </p:nvSpPr>
        <p:spPr>
          <a:xfrm>
            <a:off x="6922008" y="2542032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BEST-SELLER slot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6245352" y="2834640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6391656" y="2971800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56" name="Text 52"/>
          <p:cNvSpPr/>
          <p:nvPr/>
        </p:nvSpPr>
        <p:spPr>
          <a:xfrm>
            <a:off x="6391656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6922008" y="289864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e.s.vintage</a:t>
            </a:r>
            <a:endParaRPr lang="en-US" sz="1350" dirty="0"/>
          </a:p>
        </p:txBody>
      </p:sp>
      <p:sp>
        <p:nvSpPr>
          <p:cNvPr id="58" name="Text 54"/>
          <p:cNvSpPr/>
          <p:nvPr/>
        </p:nvSpPr>
        <p:spPr>
          <a:xfrm>
            <a:off x="10360152" y="28986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$89–99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6922008" y="3136392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bibs &amp; multipocket pants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6922008" y="3310128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SELLER · most colors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6245352" y="3602736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6391656" y="3739896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63" name="Text 59"/>
          <p:cNvSpPr/>
          <p:nvPr/>
        </p:nvSpPr>
        <p:spPr>
          <a:xfrm>
            <a:off x="6391656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4" name="Text 60"/>
          <p:cNvSpPr/>
          <p:nvPr/>
        </p:nvSpPr>
        <p:spPr>
          <a:xfrm>
            <a:off x="6922008" y="366674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e.s.e:pic</a:t>
            </a:r>
            <a:endParaRPr lang="en-US" sz="1350" dirty="0"/>
          </a:p>
        </p:txBody>
      </p:sp>
      <p:sp>
        <p:nvSpPr>
          <p:cNvPr id="65" name="Text 61"/>
          <p:cNvSpPr/>
          <p:nvPr/>
        </p:nvSpPr>
        <p:spPr>
          <a:xfrm>
            <a:off x="10360152" y="3666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$44–100</a:t>
            </a:r>
            <a:endParaRPr lang="en-US" sz="1200" dirty="0"/>
          </a:p>
        </p:txBody>
      </p:sp>
      <p:sp>
        <p:nvSpPr>
          <p:cNvPr id="66" name="Text 62"/>
          <p:cNvSpPr/>
          <p:nvPr/>
        </p:nvSpPr>
        <p:spPr>
          <a:xfrm>
            <a:off x="6922008" y="390448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Leggings, cargo &amp; fleece — broadest</a:t>
            </a:r>
            <a:endParaRPr lang="en-US" sz="950" dirty="0"/>
          </a:p>
        </p:txBody>
      </p:sp>
      <p:sp>
        <p:nvSpPr>
          <p:cNvPr id="67" name="Text 63"/>
          <p:cNvSpPr/>
          <p:nvPr/>
        </p:nvSpPr>
        <p:spPr>
          <a:xfrm>
            <a:off x="6922008" y="4078224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SELLER leggings</a:t>
            </a:r>
            <a:endParaRPr lang="en-US" sz="800" dirty="0"/>
          </a:p>
        </p:txBody>
      </p:sp>
      <p:sp>
        <p:nvSpPr>
          <p:cNvPr id="68" name="Shape 64"/>
          <p:cNvSpPr/>
          <p:nvPr/>
        </p:nvSpPr>
        <p:spPr>
          <a:xfrm>
            <a:off x="6245352" y="4370832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9" name="Shape 65"/>
          <p:cNvSpPr/>
          <p:nvPr/>
        </p:nvSpPr>
        <p:spPr>
          <a:xfrm>
            <a:off x="6391656" y="4507992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70" name="Text 66"/>
          <p:cNvSpPr/>
          <p:nvPr/>
        </p:nvSpPr>
        <p:spPr>
          <a:xfrm>
            <a:off x="6391656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71" name="Text 67"/>
          <p:cNvSpPr/>
          <p:nvPr/>
        </p:nvSpPr>
        <p:spPr>
          <a:xfrm>
            <a:off x="6922008" y="443484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e.s.concrete light</a:t>
            </a:r>
            <a:endParaRPr lang="en-US" sz="1350" dirty="0"/>
          </a:p>
        </p:txBody>
      </p:sp>
      <p:sp>
        <p:nvSpPr>
          <p:cNvPr id="72" name="Text 68"/>
          <p:cNvSpPr/>
          <p:nvPr/>
        </p:nvSpPr>
        <p:spPr>
          <a:xfrm>
            <a:off x="10360152" y="4434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</a:t>
            </a:r>
            <a:endParaRPr lang="en-US" sz="1200" dirty="0"/>
          </a:p>
        </p:txBody>
      </p:sp>
      <p:sp>
        <p:nvSpPr>
          <p:cNvPr id="73" name="Text 69"/>
          <p:cNvSpPr/>
          <p:nvPr/>
        </p:nvSpPr>
        <p:spPr>
          <a:xfrm>
            <a:off x="6922008" y="4672584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 work pants</a:t>
            </a:r>
            <a:endParaRPr lang="en-US" sz="950" dirty="0"/>
          </a:p>
        </p:txBody>
      </p:sp>
      <p:sp>
        <p:nvSpPr>
          <p:cNvPr id="74" name="Text 70"/>
          <p:cNvSpPr/>
          <p:nvPr/>
        </p:nvSpPr>
        <p:spPr>
          <a:xfrm>
            <a:off x="6922008" y="4846320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BEST-SELLER slot</a:t>
            </a:r>
            <a:endParaRPr lang="en-US" sz="800" dirty="0"/>
          </a:p>
        </p:txBody>
      </p:sp>
      <p:sp>
        <p:nvSpPr>
          <p:cNvPr id="75" name="Shape 71"/>
          <p:cNvSpPr/>
          <p:nvPr/>
        </p:nvSpPr>
        <p:spPr>
          <a:xfrm>
            <a:off x="6245352" y="5138928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6" name="Shape 72"/>
          <p:cNvSpPr/>
          <p:nvPr/>
        </p:nvSpPr>
        <p:spPr>
          <a:xfrm>
            <a:off x="6391656" y="5276088"/>
            <a:ext cx="402336" cy="402336"/>
          </a:xfrm>
          <a:prstGeom prst="ellipse">
            <a:avLst/>
          </a:prstGeom>
          <a:solidFill>
            <a:srgbClr val="2B3640"/>
          </a:solidFill>
          <a:ln/>
        </p:spPr>
      </p:sp>
      <p:sp>
        <p:nvSpPr>
          <p:cNvPr id="77" name="Text 73"/>
          <p:cNvSpPr/>
          <p:nvPr/>
        </p:nvSpPr>
        <p:spPr>
          <a:xfrm>
            <a:off x="6391656" y="5276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78" name="Text 74"/>
          <p:cNvSpPr/>
          <p:nvPr/>
        </p:nvSpPr>
        <p:spPr>
          <a:xfrm>
            <a:off x="6922008" y="52029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e.s.trail</a:t>
            </a:r>
            <a:endParaRPr lang="en-US" sz="1350" dirty="0"/>
          </a:p>
        </p:txBody>
      </p:sp>
      <p:sp>
        <p:nvSpPr>
          <p:cNvPr id="79" name="Text 75"/>
          <p:cNvSpPr/>
          <p:nvPr/>
        </p:nvSpPr>
        <p:spPr>
          <a:xfrm>
            <a:off x="10360152" y="5202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$79–139</a:t>
            </a:r>
            <a:endParaRPr lang="en-US" sz="1200" dirty="0"/>
          </a:p>
        </p:txBody>
      </p:sp>
      <p:sp>
        <p:nvSpPr>
          <p:cNvPr id="80" name="Text 76"/>
          <p:cNvSpPr/>
          <p:nvPr/>
        </p:nvSpPr>
        <p:spPr>
          <a:xfrm>
            <a:off x="6922008" y="5440680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 leggings &amp; hybrid jackets</a:t>
            </a:r>
            <a:endParaRPr lang="en-US" sz="950" dirty="0"/>
          </a:p>
        </p:txBody>
      </p:sp>
      <p:sp>
        <p:nvSpPr>
          <p:cNvPr id="81" name="Text 77"/>
          <p:cNvSpPr/>
          <p:nvPr/>
        </p:nvSpPr>
        <p:spPr>
          <a:xfrm>
            <a:off x="6922008" y="5614416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ACTIVEWEAR crossover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457200" y="645566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us.strauss.com — Men’s &amp; Women’s collection pages, product pages &amp; homepage signals.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 ·  S/S 2028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Trend — “New Light”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directions · supporting inputs for fabric development (used as a development aid, not the lead)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2647188" cy="4114800"/>
          </a:xfrm>
          <a:prstGeom prst="roundRect">
            <a:avLst>
              <a:gd name="adj" fmla="val 2763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91056"/>
            <a:ext cx="2647188" cy="109728"/>
          </a:xfrm>
          <a:prstGeom prst="rect">
            <a:avLst/>
          </a:prstGeom>
          <a:solidFill>
            <a:srgbClr val="8FA59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847088"/>
            <a:ext cx="2208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2176272"/>
            <a:ext cx="2208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· Soft · Mindful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6656" y="2560320"/>
            <a:ext cx="2208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DIRECTION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76656" y="2761488"/>
            <a:ext cx="22082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Brushed / waffle / 3D knit · rib · compression · soft-touch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" y="4828032"/>
            <a:ext cx="2208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STRAUSS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76656" y="504748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5C6B76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50474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LOW–MED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" y="5340096"/>
            <a:ext cx="2208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base layers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2988" y="1591056"/>
            <a:ext cx="2647188" cy="4114800"/>
          </a:xfrm>
          <a:prstGeom prst="roundRect">
            <a:avLst>
              <a:gd name="adj" fmla="val 2763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2988" y="1591056"/>
            <a:ext cx="2647188" cy="109728"/>
          </a:xfrm>
          <a:prstGeom prst="rect">
            <a:avLst/>
          </a:prstGeom>
          <a:solidFill>
            <a:srgbClr val="A0714E"/>
          </a:solidFill>
          <a:ln/>
        </p:spPr>
      </p:sp>
      <p:sp>
        <p:nvSpPr>
          <p:cNvPr id="18" name="Text 16"/>
          <p:cNvSpPr/>
          <p:nvPr/>
        </p:nvSpPr>
        <p:spPr>
          <a:xfrm>
            <a:off x="3552444" y="1847088"/>
            <a:ext cx="2208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NEWSTALGIA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52444" y="2176272"/>
            <a:ext cx="2208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7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· Authentic · Timeless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52444" y="2560320"/>
            <a:ext cx="2208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DIRECTION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52444" y="2761488"/>
            <a:ext cx="22082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Slub jersey · garment-dyed cotton blend · washed knit · Tencel-modal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52444" y="4828032"/>
            <a:ext cx="2208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STRAUSS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52444" y="504748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A0714E"/>
          </a:solidFill>
          <a:ln/>
        </p:spPr>
      </p:sp>
      <p:sp>
        <p:nvSpPr>
          <p:cNvPr id="24" name="Text 22"/>
          <p:cNvSpPr/>
          <p:nvPr/>
        </p:nvSpPr>
        <p:spPr>
          <a:xfrm>
            <a:off x="3552444" y="50474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52444" y="5340096"/>
            <a:ext cx="2208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/ vintage workwear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08776" y="1591056"/>
            <a:ext cx="2647188" cy="4114800"/>
          </a:xfrm>
          <a:prstGeom prst="roundRect">
            <a:avLst>
              <a:gd name="adj" fmla="val 2763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08776" y="1591056"/>
            <a:ext cx="2647188" cy="109728"/>
          </a:xfrm>
          <a:prstGeom prst="rect">
            <a:avLst/>
          </a:prstGeom>
          <a:solidFill>
            <a:srgbClr val="E0851E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1847088"/>
            <a:ext cx="2208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JOYRISE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28232" y="2176272"/>
            <a:ext cx="2208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8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· Energetic · Free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28232" y="2560320"/>
            <a:ext cx="2208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DIRECTION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28232" y="2761488"/>
            <a:ext cx="22082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Ripstop-inspired knit · reflective yarn · ultra-light mesh · quick-dry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28232" y="4828032"/>
            <a:ext cx="2208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STRAUSS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428232" y="504748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C2611A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50474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28232" y="5340096"/>
            <a:ext cx="2208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hi-vis &amp; summer cooling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084564" y="1591056"/>
            <a:ext cx="2647188" cy="4114800"/>
          </a:xfrm>
          <a:prstGeom prst="roundRect">
            <a:avLst>
              <a:gd name="adj" fmla="val 2763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84564" y="1591056"/>
            <a:ext cx="2647188" cy="109728"/>
          </a:xfrm>
          <a:prstGeom prst="rect">
            <a:avLst/>
          </a:prstGeom>
          <a:solidFill>
            <a:srgbClr val="5E7A8C"/>
          </a:solidFill>
          <a:ln/>
        </p:spPr>
      </p:sp>
      <p:sp>
        <p:nvSpPr>
          <p:cNvPr id="38" name="Text 36"/>
          <p:cNvSpPr/>
          <p:nvPr/>
        </p:nvSpPr>
        <p:spPr>
          <a:xfrm>
            <a:off x="9304020" y="1847088"/>
            <a:ext cx="2208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CHAOSYNC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04020" y="2176272"/>
            <a:ext cx="2208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· Urban · Functional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304020" y="2560320"/>
            <a:ext cx="2208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DIRECTION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304020" y="2761488"/>
            <a:ext cx="22082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Woven-like knit · high-twist crinkle · easy-care · moisture · recycled / bio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304020" y="4828032"/>
            <a:ext cx="22082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STRAUSS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304020" y="504748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456B7C"/>
          </a:solidFill>
          <a:ln/>
        </p:spPr>
      </p:sp>
      <p:sp>
        <p:nvSpPr>
          <p:cNvPr id="44" name="Text 42"/>
          <p:cNvSpPr/>
          <p:nvPr/>
        </p:nvSpPr>
        <p:spPr>
          <a:xfrm>
            <a:off x="9304020" y="50474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304020" y="5340096"/>
            <a:ext cx="2208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everywear workwear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5888736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Nan Yang SS28 trend book (“New Light”). On the fabric pages, each fabric carries a TREND INPUT tag drawn from these directions.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 YANG TEXTILE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 Yang Fabric Innovation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engineered platforms — the core of this proposal · fabric references follow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575304" cy="4023360"/>
          </a:xfrm>
          <a:prstGeom prst="roundRect">
            <a:avLst>
              <a:gd name="adj" fmla="val 204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38528"/>
            <a:ext cx="658368" cy="658368"/>
          </a:xfrm>
          <a:prstGeom prst="ellipse">
            <a:avLst/>
          </a:prstGeom>
          <a:solidFill>
            <a:srgbClr val="DD841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031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956816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DRY-TECH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554480" y="232257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management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2852928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Breathability, quick-dry performance, sweat control and comfort in hot, humid conditions.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404164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" y="427939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Moisture-wicking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Quick-dry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Breathable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comfort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06824" y="1664208"/>
            <a:ext cx="3575304" cy="4023360"/>
          </a:xfrm>
          <a:prstGeom prst="roundRect">
            <a:avLst>
              <a:gd name="adj" fmla="val 204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81144" y="1938528"/>
            <a:ext cx="658368" cy="658368"/>
          </a:xfrm>
          <a:prstGeom prst="ellipse">
            <a:avLst/>
          </a:prstGeom>
          <a:solidFill>
            <a:srgbClr val="DD841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10312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04104" y="1956816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ELITECH 360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5404104" y="232257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stretch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99432" y="2852928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360-degree stretch knit with a woven appearance — ease of movement, lightweight, quick-dry &amp; UV protection.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99432" y="404164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617720" y="427939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stretch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protection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Quick-dry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56448" y="1664208"/>
            <a:ext cx="3575304" cy="4023360"/>
          </a:xfrm>
          <a:prstGeom prst="roundRect">
            <a:avLst>
              <a:gd name="adj" fmla="val 204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30768" y="1938528"/>
            <a:ext cx="658368" cy="658368"/>
          </a:xfrm>
          <a:prstGeom prst="ellipse">
            <a:avLst/>
          </a:prstGeom>
          <a:solidFill>
            <a:srgbClr val="DD841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253728" y="1956816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ELITECH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9253728" y="2322576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Easy-care lifestyle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449056" y="2852928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easy-care performance — comfort, durability, wrinkle resistance and everyday wearability.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449056" y="404164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FUNCTIONS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8467344" y="4279392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Wrinkle resistance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Easy-care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refined hand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Innovation-led proposal · the next three pages present 4 fabrics per platform, each with a fabric reference and an SS28 development input.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 ·  DRY-TECH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Dry-Tech — Moisture &amp; Cooling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fabrics for hot-weather workwear · each with a fabric reference &amp; SS28 development input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91440" cy="2286000"/>
          </a:xfrm>
          <a:prstGeom prst="rect">
            <a:avLst/>
          </a:prstGeom>
          <a:solidFill>
            <a:srgbClr val="E0851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700784"/>
            <a:ext cx="2011680" cy="1737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70078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465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Mesh + solid hybrid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834640" y="170078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Mesh Hybrid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834640" y="201168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e.s.t:aktik shirts · hi-vis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834640" y="226771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+ solid hybrid knit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834640" y="256032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· quick-dry · moisture management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834640" y="309067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0851E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30906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JOYRISE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834640" y="336499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08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Cooling → ultra-light mesh + ventilation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231636" y="146304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1636" y="1463040"/>
            <a:ext cx="91440" cy="2286000"/>
          </a:xfrm>
          <a:prstGeom prst="rect">
            <a:avLst/>
          </a:prstGeom>
          <a:solidFill>
            <a:srgbClr val="5E7A8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2804" y="1700784"/>
            <a:ext cx="2011680" cy="17373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432804" y="170078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3465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Plated jersey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609076" y="170078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Wicking Work Jersey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8609076" y="201168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 shirts · tees (M+W)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609076" y="226771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Plated knit (poly back)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8609076" y="256032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Wicking · cool-touch · anti-odor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8609076" y="309067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E7A8C"/>
          </a:solidFill>
          <a:ln/>
        </p:spPr>
      </p:sp>
      <p:sp>
        <p:nvSpPr>
          <p:cNvPr id="28" name="Text 24"/>
          <p:cNvSpPr/>
          <p:nvPr/>
        </p:nvSpPr>
        <p:spPr>
          <a:xfrm>
            <a:off x="8609076" y="30906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CHAOSYNC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8609076" y="336499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Bio-Driven → moisture management knit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457200" y="384048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57200" y="3840480"/>
            <a:ext cx="91440" cy="2286000"/>
          </a:xfrm>
          <a:prstGeom prst="rect">
            <a:avLst/>
          </a:prstGeom>
          <a:solidFill>
            <a:srgbClr val="E0851E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" y="4078224"/>
            <a:ext cx="2011680" cy="173736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58368" y="407822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58368" y="5843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Seamless zoned knit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2834640" y="407822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Ventilation Tee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2834640" y="438912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Active tees · base layer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2834640" y="464515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zoned knit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2834640" y="493776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Zoned airflow · breathable · light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2834640" y="546811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0851E"/>
          </a:solidFill>
          <a:ln/>
        </p:spPr>
      </p:sp>
      <p:sp>
        <p:nvSpPr>
          <p:cNvPr id="40" name="Text 35"/>
          <p:cNvSpPr/>
          <p:nvPr/>
        </p:nvSpPr>
        <p:spPr>
          <a:xfrm>
            <a:off x="2834640" y="54681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JOYRISE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2834640" y="574243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08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Cooling → seamless zoned ventilation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6231636" y="384048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6231636" y="3840480"/>
            <a:ext cx="91440" cy="2286000"/>
          </a:xfrm>
          <a:prstGeom prst="rect">
            <a:avLst/>
          </a:prstGeom>
          <a:solidFill>
            <a:srgbClr val="5E7A8C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32804" y="4078224"/>
            <a:ext cx="2011680" cy="1737360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6432804" y="407822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432804" y="5843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Cellulosic perf. knit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8609076" y="407822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 / Bio Knit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8609076" y="438912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sustainability-led pieces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8609076" y="464515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Tencel-Modal + recycled poly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8609076" y="493776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· odour control · credibility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8609076" y="546811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E7A8C"/>
          </a:solidFill>
          <a:ln/>
        </p:spPr>
      </p:sp>
      <p:sp>
        <p:nvSpPr>
          <p:cNvPr id="52" name="Text 46"/>
          <p:cNvSpPr/>
          <p:nvPr/>
        </p:nvSpPr>
        <p:spPr>
          <a:xfrm>
            <a:off x="8609076" y="54681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CHAOSYNC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8609076" y="574243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Bio-Driven → bio-based + recycled poly</a:t>
            </a:r>
            <a:endParaRPr lang="en-US" sz="700" dirty="0"/>
          </a:p>
        </p:txBody>
      </p:sp>
      <p:sp>
        <p:nvSpPr>
          <p:cNvPr id="54" name="Text 48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Swatch tiles illustrate fabric direction / structure (internal reference) — replace with real fabric photos. SS28 = development input. Specs are Nan Yang proposals.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 ·  ELITECH 360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Elitech 360 — 360° Stretch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stretch knits with a woven look for the motion &amp; t:aktik core · ref + SS28 input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91440" cy="2286000"/>
          </a:xfrm>
          <a:prstGeom prst="rect">
            <a:avLst/>
          </a:prstGeom>
          <a:solidFill>
            <a:srgbClr val="5E7A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700784"/>
            <a:ext cx="2011680" cy="1737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70078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465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Ripstop-look knit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834640" y="170078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Stretch Knit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834640" y="201168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motion 2020 · motion ten · t:aktik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834640" y="226771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Ripstop-look knit · 4-way stretch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834640" y="256032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Wrinkle-free · packable · anti-cling · mobile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834640" y="309067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E7A8C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30906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CHAOSYNC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834640" y="336499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Wrinkled Surface → woven-like knit, no-iron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231636" y="146304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1636" y="1463040"/>
            <a:ext cx="91440" cy="2286000"/>
          </a:xfrm>
          <a:prstGeom prst="rect">
            <a:avLst/>
          </a:prstGeom>
          <a:solidFill>
            <a:srgbClr val="5E7A8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2804" y="1700784"/>
            <a:ext cx="2011680" cy="17373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432804" y="170078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3465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Twill-look stretch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609076" y="170078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Twill (flagship)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8609076" y="201168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e.s.motion 2020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609076" y="226771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Twill-look stretch knit · ~240 gsm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8609076" y="256032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look as 65/35 twill · adds stretch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8609076" y="309067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E7A8C"/>
          </a:solidFill>
          <a:ln/>
        </p:spPr>
      </p:sp>
      <p:sp>
        <p:nvSpPr>
          <p:cNvPr id="28" name="Text 24"/>
          <p:cNvSpPr/>
          <p:nvPr/>
        </p:nvSpPr>
        <p:spPr>
          <a:xfrm>
            <a:off x="8609076" y="30906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CHAOSYNC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8609076" y="336499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Wrinkled Surface → woven-like, easy-care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457200" y="384048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57200" y="3840480"/>
            <a:ext cx="91440" cy="2286000"/>
          </a:xfrm>
          <a:prstGeom prst="rect">
            <a:avLst/>
          </a:prstGeom>
          <a:solidFill>
            <a:srgbClr val="5E7A8C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" y="4078224"/>
            <a:ext cx="2011680" cy="173736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58368" y="407822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58368" y="5843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High-twist crinkle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2834640" y="407822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High-Twist Crinkle Knit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2834640" y="438912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casual work shirts · overshirts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2834640" y="464515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High-twist yarn jersey · woven-like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2834640" y="493776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No-iron · anti-cling · packable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2834640" y="546811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E7A8C"/>
          </a:solidFill>
          <a:ln/>
        </p:spPr>
      </p:sp>
      <p:sp>
        <p:nvSpPr>
          <p:cNvPr id="40" name="Text 35"/>
          <p:cNvSpPr/>
          <p:nvPr/>
        </p:nvSpPr>
        <p:spPr>
          <a:xfrm>
            <a:off x="2834640" y="54681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CHAOSYNC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2834640" y="574243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Wrinkled Surface → lightweight crinkle knit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6231636" y="384048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6231636" y="3840480"/>
            <a:ext cx="91440" cy="2286000"/>
          </a:xfrm>
          <a:prstGeom prst="rect">
            <a:avLst/>
          </a:prstGeom>
          <a:solidFill>
            <a:srgbClr val="E0851E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32804" y="4078224"/>
            <a:ext cx="2011680" cy="1737360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6432804" y="407822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432804" y="5843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Ripstop-effect knit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8609076" y="407822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Ripstop-Effect Stretch Knit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8609076" y="438912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t:aktik · hi-vis work pants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8609076" y="464515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Ripstop-inspired stretch knit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8609076" y="493776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look · 4-way stretch · UV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8609076" y="546811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0851E"/>
          </a:solidFill>
          <a:ln/>
        </p:spPr>
      </p:sp>
      <p:sp>
        <p:nvSpPr>
          <p:cNvPr id="52" name="Text 46"/>
          <p:cNvSpPr/>
          <p:nvPr/>
        </p:nvSpPr>
        <p:spPr>
          <a:xfrm>
            <a:off x="8609076" y="54681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JOYRISE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8609076" y="574243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08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Iridescent → ripstop-inspired (+ reflective option)</a:t>
            </a:r>
            <a:endParaRPr lang="en-US" sz="700" dirty="0"/>
          </a:p>
        </p:txBody>
      </p:sp>
      <p:sp>
        <p:nvSpPr>
          <p:cNvPr id="54" name="Text 48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Swatch tiles illustrate fabric direction / structure (internal reference) — replace with real fabric photos. SS28 = development input. Specs are Nan Yang proposals.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B36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 ·  ELITECH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Elitech — Easy-Care Everyday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easy-care fabrics for shirts, polos, uniform &amp; comfort layers · ref + SS28 input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91440" cy="2286000"/>
          </a:xfrm>
          <a:prstGeom prst="rect">
            <a:avLst/>
          </a:prstGeom>
          <a:solidFill>
            <a:srgbClr val="5E7A8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700784"/>
            <a:ext cx="2011680" cy="1737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70078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465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Easy-care poplin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834640" y="170078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Wrinkle-Free Poplin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834640" y="201168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Polos · work shirts · uniform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834640" y="226771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weave · no-iron finish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834640" y="256032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Low-iron · durable wash · all-day comfort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834640" y="309067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E7A8C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30906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CHAOSYNC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834640" y="336499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EveryWear → easy-care, no ironing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231636" y="146304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1636" y="1463040"/>
            <a:ext cx="91440" cy="2286000"/>
          </a:xfrm>
          <a:prstGeom prst="rect">
            <a:avLst/>
          </a:prstGeom>
          <a:solidFill>
            <a:srgbClr val="5E7A8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2804" y="1700784"/>
            <a:ext cx="2011680" cy="17373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432804" y="170078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32804" y="3465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Performance piqué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609076" y="170078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Easy-Care Piqué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8609076" y="201168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Polos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609076" y="226771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Piqué knit · soil-release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8609076" y="256032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Stain-shedding · keeps fresh · polo texture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8609076" y="309067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E7A8C"/>
          </a:solidFill>
          <a:ln/>
        </p:spPr>
      </p:sp>
      <p:sp>
        <p:nvSpPr>
          <p:cNvPr id="28" name="Text 24"/>
          <p:cNvSpPr/>
          <p:nvPr/>
        </p:nvSpPr>
        <p:spPr>
          <a:xfrm>
            <a:off x="8609076" y="30906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CHAOSYNC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8609076" y="336499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Bio-Driven → odour control + easy-care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457200" y="384048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57200" y="3840480"/>
            <a:ext cx="91440" cy="2286000"/>
          </a:xfrm>
          <a:prstGeom prst="rect">
            <a:avLst/>
          </a:prstGeom>
          <a:solidFill>
            <a:srgbClr val="A0714E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" y="4078224"/>
            <a:ext cx="2011680" cy="173736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58368" y="407822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58368" y="5843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Garment-dyed / slub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2834640" y="407822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Garment-Dyed Cotton Blend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2834640" y="438912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e.s.vintage casual · heritage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2834640" y="464515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Slub / garment-dyed cotton blend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2834640" y="493776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handfeel · soft · lived-in look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2834640" y="546811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A0714E"/>
          </a:solidFill>
          <a:ln/>
        </p:spPr>
      </p:sp>
      <p:sp>
        <p:nvSpPr>
          <p:cNvPr id="40" name="Text 35"/>
          <p:cNvSpPr/>
          <p:nvPr/>
        </p:nvSpPr>
        <p:spPr>
          <a:xfrm>
            <a:off x="2834640" y="54681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NEWSTALGIA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2834640" y="574243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A07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Washed Texture → garment-dyed, slub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6231636" y="3840480"/>
            <a:ext cx="5500116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6231636" y="3840480"/>
            <a:ext cx="91440" cy="2286000"/>
          </a:xfrm>
          <a:prstGeom prst="rect">
            <a:avLst/>
          </a:prstGeom>
          <a:solidFill>
            <a:srgbClr val="8FA59A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32804" y="4078224"/>
            <a:ext cx="2011680" cy="1737360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6432804" y="4078224"/>
            <a:ext cx="2011680" cy="17373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432804" y="5843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· Brushed / waffle knit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8609076" y="4078224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Soft-Touch Brushed Knit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8609076" y="4389120"/>
            <a:ext cx="2939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D8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comfort base layers · linings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8609076" y="4645152"/>
            <a:ext cx="2939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</a:t>
            </a:r>
            <a:pPr indent="0" marL="0">
              <a:buNone/>
            </a:pPr>
            <a:r>
              <a:rPr lang="en-US" sz="1000" dirty="0">
                <a:solidFill>
                  <a:srgbClr val="20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Brushed / waffle knit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8609076" y="4937760"/>
            <a:ext cx="2939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Soft-touch · thermal comfort · cozy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8609076" y="546811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8FA59A"/>
          </a:solidFill>
          <a:ln/>
        </p:spPr>
      </p:sp>
      <p:sp>
        <p:nvSpPr>
          <p:cNvPr id="52" name="Text 46"/>
          <p:cNvSpPr/>
          <p:nvPr/>
        </p:nvSpPr>
        <p:spPr>
          <a:xfrm>
            <a:off x="8609076" y="54681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SS28 · SENSORESET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8609076" y="5742432"/>
            <a:ext cx="2939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8FA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INPUT  </a:t>
            </a:r>
            <a:pPr indent="0" marL="0">
              <a:buNone/>
            </a:pPr>
            <a:r>
              <a:rPr lang="en-US" sz="9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Texture → brushed / waffle knit</a:t>
            </a:r>
            <a:endParaRPr lang="en-US" sz="700" dirty="0"/>
          </a:p>
        </p:txBody>
      </p:sp>
      <p:sp>
        <p:nvSpPr>
          <p:cNvPr id="54" name="Text 48"/>
          <p:cNvSpPr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Swatch tiles illustrate fabric direction / structure (internal reference) — replace with real fabric photos. SS28 = development input. Specs are Nan Yang proposals.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 Yang x Strauss — Innovation + SS28</dc:title>
  <dc:subject>PptxGenJS Presentation</dc:subject>
  <dc:creator>Nan Yang Textile Industry Co., Ltd.</dc:creator>
  <cp:lastModifiedBy>Nan Yang Textile Industry Co., Ltd.</cp:lastModifiedBy>
  <cp:revision>1</cp:revision>
  <dcterms:created xsi:type="dcterms:W3CDTF">2026-06-24T10:53:29Z</dcterms:created>
  <dcterms:modified xsi:type="dcterms:W3CDTF">2026-06-24T10:53:29Z</dcterms:modified>
</cp:coreProperties>
</file>