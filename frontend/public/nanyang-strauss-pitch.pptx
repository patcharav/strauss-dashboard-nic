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779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2B36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/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STRAUSS — TOP 5 COLLECTIONS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8869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&amp; Women · inferred from website signals (badges, hero placement, default best-selling sort) — not internal sales data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457200" cy="457200"/>
          </a:xfrm>
          <a:prstGeom prst="ellipse">
            <a:avLst/>
          </a:prstGeom>
          <a:solidFill>
            <a:srgbClr val="DD841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481328"/>
            <a:ext cx="164592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389888"/>
            <a:ext cx="4919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3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1993392"/>
            <a:ext cx="5486400" cy="758952"/>
          </a:xfrm>
          <a:prstGeom prst="roundRect">
            <a:avLst>
              <a:gd name="adj" fmla="val 7229"/>
            </a:avLst>
          </a:prstGeom>
          <a:solidFill>
            <a:srgbClr val="F3F5F6"/>
          </a:solidFill>
          <a:ln/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" y="2148840"/>
            <a:ext cx="457200" cy="457200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43584" y="207568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e.s.motion 2020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0" y="2075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43584" y="2331720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cargo work pant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243584" y="2523744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SELLER · “7+ Million Worn”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2843784"/>
            <a:ext cx="5486400" cy="758952"/>
          </a:xfrm>
          <a:prstGeom prst="roundRect">
            <a:avLst>
              <a:gd name="adj" fmla="val 7229"/>
            </a:avLst>
          </a:prstGeom>
          <a:solidFill>
            <a:srgbClr val="F3F5F6"/>
          </a:solidFill>
          <a:ln/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" y="2999232"/>
            <a:ext cx="457200" cy="457200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43584" y="292608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e.s.motion ten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0" y="2926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43584" y="3182112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tailored work pants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243584" y="3374136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BANNER · 5 colors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3694176"/>
            <a:ext cx="5486400" cy="758952"/>
          </a:xfrm>
          <a:prstGeom prst="roundRect">
            <a:avLst>
              <a:gd name="adj" fmla="val 7229"/>
            </a:avLst>
          </a:prstGeom>
          <a:solidFill>
            <a:srgbClr val="F3F5F6"/>
          </a:solidFill>
          <a:ln/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1792" y="3849624"/>
            <a:ext cx="457200" cy="457200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25" name="Text 22"/>
          <p:cNvSpPr/>
          <p:nvPr/>
        </p:nvSpPr>
        <p:spPr>
          <a:xfrm>
            <a:off x="621792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243584" y="377647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e.s.t:aktik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0" y="3776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$40–130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243584" y="4032504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ripstop, built for heat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243584" y="4224528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NEWEST LAUNCH · own page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57200" y="4544568"/>
            <a:ext cx="5486400" cy="758952"/>
          </a:xfrm>
          <a:prstGeom prst="roundRect">
            <a:avLst>
              <a:gd name="adj" fmla="val 7229"/>
            </a:avLst>
          </a:prstGeom>
          <a:solidFill>
            <a:srgbClr val="F3F5F6"/>
          </a:solidFill>
          <a:ln/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21792" y="4700016"/>
            <a:ext cx="457200" cy="457200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32" name="Text 29"/>
          <p:cNvSpPr/>
          <p:nvPr/>
        </p:nvSpPr>
        <p:spPr>
          <a:xfrm>
            <a:off x="621792" y="4700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243584" y="4626864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e.s.vintage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572000" y="46268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$120–130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243584" y="4882896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multipocket bibs &amp; pants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243584" y="5074920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SELLER bib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5394960"/>
            <a:ext cx="5486400" cy="758952"/>
          </a:xfrm>
          <a:prstGeom prst="roundRect">
            <a:avLst>
              <a:gd name="adj" fmla="val 7229"/>
            </a:avLst>
          </a:prstGeom>
          <a:solidFill>
            <a:srgbClr val="F3F5F6"/>
          </a:solidFill>
          <a:ln/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21792" y="5550408"/>
            <a:ext cx="457200" cy="457200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39" name="Text 36"/>
          <p:cNvSpPr/>
          <p:nvPr/>
        </p:nvSpPr>
        <p:spPr>
          <a:xfrm>
            <a:off x="621792" y="5550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243584" y="547725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e.s.iconic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4572000" y="54772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$80–90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243584" y="5733288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vests &amp; value work pants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1243584" y="5925312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STRAUSS PICK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6245352" y="1389888"/>
            <a:ext cx="457200" cy="457200"/>
          </a:xfrm>
          <a:prstGeom prst="ellipse">
            <a:avLst/>
          </a:prstGeom>
          <a:solidFill>
            <a:srgbClr val="DD841C"/>
          </a:solidFill>
          <a:ln/>
        </p:spPr>
      </p:sp>
      <p:pic>
        <p:nvPicPr>
          <p:cNvPr id="4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481328"/>
            <a:ext cx="164592" cy="27432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6812280" y="1389888"/>
            <a:ext cx="4919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3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</a:t>
            </a:r>
            <a:endParaRPr lang="en-US" sz="1800" dirty="0"/>
          </a:p>
        </p:txBody>
      </p:sp>
      <p:sp>
        <p:nvSpPr>
          <p:cNvPr id="47" name="Shape 43"/>
          <p:cNvSpPr/>
          <p:nvPr/>
        </p:nvSpPr>
        <p:spPr>
          <a:xfrm>
            <a:off x="6245352" y="1993392"/>
            <a:ext cx="5486400" cy="758952"/>
          </a:xfrm>
          <a:prstGeom prst="roundRect">
            <a:avLst>
              <a:gd name="adj" fmla="val 7229"/>
            </a:avLst>
          </a:prstGeom>
          <a:solidFill>
            <a:srgbClr val="F3F5F6"/>
          </a:solidFill>
          <a:ln/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6409944" y="2148840"/>
            <a:ext cx="457200" cy="457200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49" name="Text 45"/>
          <p:cNvSpPr/>
          <p:nvPr/>
        </p:nvSpPr>
        <p:spPr>
          <a:xfrm>
            <a:off x="640994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0" name="Text 46"/>
          <p:cNvSpPr/>
          <p:nvPr/>
        </p:nvSpPr>
        <p:spPr>
          <a:xfrm>
            <a:off x="7031736" y="207568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e.s.motion ten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10360152" y="2075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$99–169</a:t>
            </a:r>
            <a:endParaRPr lang="en-US" sz="1300" dirty="0"/>
          </a:p>
        </p:txBody>
      </p:sp>
      <p:sp>
        <p:nvSpPr>
          <p:cNvPr id="52" name="Text 48"/>
          <p:cNvSpPr/>
          <p:nvPr/>
        </p:nvSpPr>
        <p:spPr>
          <a:xfrm>
            <a:off x="7031736" y="2331720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pants, vests, hybrid jackets</a:t>
            </a:r>
            <a:endParaRPr lang="en-US" sz="1050" dirty="0"/>
          </a:p>
        </p:txBody>
      </p:sp>
      <p:sp>
        <p:nvSpPr>
          <p:cNvPr id="53" name="Text 49"/>
          <p:cNvSpPr/>
          <p:nvPr/>
        </p:nvSpPr>
        <p:spPr>
          <a:xfrm>
            <a:off x="7031736" y="2523744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BEST-SELLER slot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6245352" y="2843784"/>
            <a:ext cx="5486400" cy="758952"/>
          </a:xfrm>
          <a:prstGeom prst="roundRect">
            <a:avLst>
              <a:gd name="adj" fmla="val 7229"/>
            </a:avLst>
          </a:prstGeom>
          <a:solidFill>
            <a:srgbClr val="F3F5F6"/>
          </a:solidFill>
          <a:ln/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6409944" y="2999232"/>
            <a:ext cx="457200" cy="457200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56" name="Text 52"/>
          <p:cNvSpPr/>
          <p:nvPr/>
        </p:nvSpPr>
        <p:spPr>
          <a:xfrm>
            <a:off x="6409944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7" name="Text 53"/>
          <p:cNvSpPr/>
          <p:nvPr/>
        </p:nvSpPr>
        <p:spPr>
          <a:xfrm>
            <a:off x="7031736" y="292608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e.s.vintage</a:t>
            </a:r>
            <a:endParaRPr lang="en-US" sz="1400" dirty="0"/>
          </a:p>
        </p:txBody>
      </p:sp>
      <p:sp>
        <p:nvSpPr>
          <p:cNvPr id="58" name="Text 54"/>
          <p:cNvSpPr/>
          <p:nvPr/>
        </p:nvSpPr>
        <p:spPr>
          <a:xfrm>
            <a:off x="10360152" y="2926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$89–99</a:t>
            </a:r>
            <a:endParaRPr lang="en-US" sz="1300" dirty="0"/>
          </a:p>
        </p:txBody>
      </p:sp>
      <p:sp>
        <p:nvSpPr>
          <p:cNvPr id="59" name="Text 55"/>
          <p:cNvSpPr/>
          <p:nvPr/>
        </p:nvSpPr>
        <p:spPr>
          <a:xfrm>
            <a:off x="7031736" y="3182112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bibs &amp; multipocket pants</a:t>
            </a:r>
            <a:endParaRPr lang="en-US" sz="1050" dirty="0"/>
          </a:p>
        </p:txBody>
      </p:sp>
      <p:sp>
        <p:nvSpPr>
          <p:cNvPr id="60" name="Text 56"/>
          <p:cNvSpPr/>
          <p:nvPr/>
        </p:nvSpPr>
        <p:spPr>
          <a:xfrm>
            <a:off x="7031736" y="3374136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SELLER · most colors</a:t>
            </a:r>
            <a:endParaRPr lang="en-US" sz="850" dirty="0"/>
          </a:p>
        </p:txBody>
      </p:sp>
      <p:sp>
        <p:nvSpPr>
          <p:cNvPr id="61" name="Shape 57"/>
          <p:cNvSpPr/>
          <p:nvPr/>
        </p:nvSpPr>
        <p:spPr>
          <a:xfrm>
            <a:off x="6245352" y="3694176"/>
            <a:ext cx="5486400" cy="758952"/>
          </a:xfrm>
          <a:prstGeom prst="roundRect">
            <a:avLst>
              <a:gd name="adj" fmla="val 7229"/>
            </a:avLst>
          </a:prstGeom>
          <a:solidFill>
            <a:srgbClr val="F3F5F6"/>
          </a:solidFill>
          <a:ln/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6409944" y="3849624"/>
            <a:ext cx="457200" cy="457200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63" name="Text 59"/>
          <p:cNvSpPr/>
          <p:nvPr/>
        </p:nvSpPr>
        <p:spPr>
          <a:xfrm>
            <a:off x="6409944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64" name="Text 60"/>
          <p:cNvSpPr/>
          <p:nvPr/>
        </p:nvSpPr>
        <p:spPr>
          <a:xfrm>
            <a:off x="7031736" y="377647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e.s.e:pic</a:t>
            </a: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10360152" y="3776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$44–100</a:t>
            </a:r>
            <a:endParaRPr lang="en-US" sz="1300" dirty="0"/>
          </a:p>
        </p:txBody>
      </p:sp>
      <p:sp>
        <p:nvSpPr>
          <p:cNvPr id="66" name="Text 62"/>
          <p:cNvSpPr/>
          <p:nvPr/>
        </p:nvSpPr>
        <p:spPr>
          <a:xfrm>
            <a:off x="7031736" y="4032504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Leggings, cargo &amp; fleece — broadest</a:t>
            </a:r>
            <a:endParaRPr lang="en-US" sz="1050" dirty="0"/>
          </a:p>
        </p:txBody>
      </p:sp>
      <p:sp>
        <p:nvSpPr>
          <p:cNvPr id="67" name="Text 63"/>
          <p:cNvSpPr/>
          <p:nvPr/>
        </p:nvSpPr>
        <p:spPr>
          <a:xfrm>
            <a:off x="7031736" y="4224528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SELLER leggings</a:t>
            </a:r>
            <a:endParaRPr lang="en-US" sz="850" dirty="0"/>
          </a:p>
        </p:txBody>
      </p:sp>
      <p:sp>
        <p:nvSpPr>
          <p:cNvPr id="68" name="Shape 64"/>
          <p:cNvSpPr/>
          <p:nvPr/>
        </p:nvSpPr>
        <p:spPr>
          <a:xfrm>
            <a:off x="6245352" y="4544568"/>
            <a:ext cx="5486400" cy="758952"/>
          </a:xfrm>
          <a:prstGeom prst="roundRect">
            <a:avLst>
              <a:gd name="adj" fmla="val 7229"/>
            </a:avLst>
          </a:prstGeom>
          <a:solidFill>
            <a:srgbClr val="F3F5F6"/>
          </a:solidFill>
          <a:ln/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9" name="Shape 65"/>
          <p:cNvSpPr/>
          <p:nvPr/>
        </p:nvSpPr>
        <p:spPr>
          <a:xfrm>
            <a:off x="6409944" y="4700016"/>
            <a:ext cx="457200" cy="457200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70" name="Text 66"/>
          <p:cNvSpPr/>
          <p:nvPr/>
        </p:nvSpPr>
        <p:spPr>
          <a:xfrm>
            <a:off x="6409944" y="4700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71" name="Text 67"/>
          <p:cNvSpPr/>
          <p:nvPr/>
        </p:nvSpPr>
        <p:spPr>
          <a:xfrm>
            <a:off x="7031736" y="4626864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e.s.concrete light</a:t>
            </a:r>
            <a:endParaRPr lang="en-US" sz="1400" dirty="0"/>
          </a:p>
        </p:txBody>
      </p:sp>
      <p:sp>
        <p:nvSpPr>
          <p:cNvPr id="72" name="Text 68"/>
          <p:cNvSpPr/>
          <p:nvPr/>
        </p:nvSpPr>
        <p:spPr>
          <a:xfrm>
            <a:off x="10360152" y="46268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</a:t>
            </a:r>
            <a:endParaRPr lang="en-US" sz="1300" dirty="0"/>
          </a:p>
        </p:txBody>
      </p:sp>
      <p:sp>
        <p:nvSpPr>
          <p:cNvPr id="73" name="Text 69"/>
          <p:cNvSpPr/>
          <p:nvPr/>
        </p:nvSpPr>
        <p:spPr>
          <a:xfrm>
            <a:off x="7031736" y="4882896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 work pants</a:t>
            </a:r>
            <a:endParaRPr lang="en-US" sz="1050" dirty="0"/>
          </a:p>
        </p:txBody>
      </p:sp>
      <p:sp>
        <p:nvSpPr>
          <p:cNvPr id="74" name="Text 70"/>
          <p:cNvSpPr/>
          <p:nvPr/>
        </p:nvSpPr>
        <p:spPr>
          <a:xfrm>
            <a:off x="7031736" y="5074920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 BEST-SELLER slot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6245352" y="5394960"/>
            <a:ext cx="5486400" cy="758952"/>
          </a:xfrm>
          <a:prstGeom prst="roundRect">
            <a:avLst>
              <a:gd name="adj" fmla="val 7229"/>
            </a:avLst>
          </a:prstGeom>
          <a:solidFill>
            <a:srgbClr val="F3F5F6"/>
          </a:solidFill>
          <a:ln/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6" name="Shape 72"/>
          <p:cNvSpPr/>
          <p:nvPr/>
        </p:nvSpPr>
        <p:spPr>
          <a:xfrm>
            <a:off x="6409944" y="5550408"/>
            <a:ext cx="457200" cy="457200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77" name="Text 73"/>
          <p:cNvSpPr/>
          <p:nvPr/>
        </p:nvSpPr>
        <p:spPr>
          <a:xfrm>
            <a:off x="6409944" y="5550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78" name="Text 74"/>
          <p:cNvSpPr/>
          <p:nvPr/>
        </p:nvSpPr>
        <p:spPr>
          <a:xfrm>
            <a:off x="7031736" y="547725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e.s.trail</a:t>
            </a:r>
            <a:endParaRPr lang="en-US" sz="1400" dirty="0"/>
          </a:p>
        </p:txBody>
      </p:sp>
      <p:sp>
        <p:nvSpPr>
          <p:cNvPr id="79" name="Text 75"/>
          <p:cNvSpPr/>
          <p:nvPr/>
        </p:nvSpPr>
        <p:spPr>
          <a:xfrm>
            <a:off x="10360152" y="54772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$79–139</a:t>
            </a:r>
            <a:endParaRPr lang="en-US" sz="1300" dirty="0"/>
          </a:p>
        </p:txBody>
      </p:sp>
      <p:sp>
        <p:nvSpPr>
          <p:cNvPr id="80" name="Text 76"/>
          <p:cNvSpPr/>
          <p:nvPr/>
        </p:nvSpPr>
        <p:spPr>
          <a:xfrm>
            <a:off x="7031736" y="5733288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Athletic leggings &amp; hybrid jackets</a:t>
            </a:r>
            <a:endParaRPr lang="en-US" sz="1050" dirty="0"/>
          </a:p>
        </p:txBody>
      </p:sp>
      <p:sp>
        <p:nvSpPr>
          <p:cNvPr id="81" name="Text 77"/>
          <p:cNvSpPr/>
          <p:nvPr/>
        </p:nvSpPr>
        <p:spPr>
          <a:xfrm>
            <a:off x="7031736" y="5925312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ACTIVEWEAR crossover</a:t>
            </a:r>
            <a:endParaRPr lang="en-US" sz="850" dirty="0"/>
          </a:p>
        </p:txBody>
      </p:sp>
      <p:sp>
        <p:nvSpPr>
          <p:cNvPr id="82" name="Shape 7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640"/>
          </a:solidFill>
          <a:ln/>
        </p:spPr>
      </p:sp>
      <p:sp>
        <p:nvSpPr>
          <p:cNvPr id="83" name="Text 79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us.strauss.com — Men’s &amp; Women’s collection pages, product pages and homepage signals.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98448"/>
          </a:xfrm>
          <a:prstGeom prst="rect">
            <a:avLst/>
          </a:prstGeom>
          <a:solidFill>
            <a:srgbClr val="2B36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DD841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212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2011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PROPOSAL · 1 / 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88720" y="4206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ELITECH 360 — “Woven killer”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188720" y="9144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knit engineered to look &amp; move like woven workwear — with 360° stretch, UV protection &amp; quick-dry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517904"/>
            <a:ext cx="3575304" cy="1783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1517904"/>
            <a:ext cx="3575304" cy="178308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3346704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1 · Ripstop-look face · earth tones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57200" y="3685032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cargo pant / short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401421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e.s.t:aktik · motion ten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4251960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Nylon / 10% Spandex · woven-look knit · ~190–220 gsm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4636008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stretch · UPF · quick-dry — replaces woven ripstop</a:t>
            </a:r>
            <a:endParaRPr lang="en-US" sz="10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06824" y="1517904"/>
            <a:ext cx="3575304" cy="17830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306824" y="1517904"/>
            <a:ext cx="3575304" cy="178308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306824" y="3346704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2 · Twill-look face · flagship weight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306824" y="3685032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 work-pant fabric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306824" y="401421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e.s.motion 2020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306824" y="4251960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Poly-rich woven-look stretch knit · ~230–245 gsm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306824" y="4636008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look as 65/35 twill — adds in-fabric stretch</a:t>
            </a:r>
            <a:endParaRPr lang="en-US" sz="10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56448" y="1517904"/>
            <a:ext cx="3575304" cy="17830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156448" y="1517904"/>
            <a:ext cx="3575304" cy="178308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156448" y="3346704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3 · Plain woven-look · shirting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8156448" y="3685032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Woven-look work shirt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156448" y="401421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e.s.t:aktik shirts · work shirts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156448" y="4251960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woven-look stretch knit · ~140–170 gsm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156448" y="4636008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a woven shirt, moves like a knit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57200" y="594360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FBF1E4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594360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r>
              <a:rPr lang="en-US" sz="11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motion 2020 today = non-stretch 65/35 woven twill (~245 gsm). The “woven killer” keeps the look, adds 360° stretch.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A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Swatch tiles illustrate fabric direction (internal reference) — replace with real fabric photos. Current-fabric figures from us.strauss.com · suggested specs are Nan Yang proposals.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98448"/>
          </a:xfrm>
          <a:prstGeom prst="rect">
            <a:avLst/>
          </a:prstGeom>
          <a:solidFill>
            <a:srgbClr val="2B36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DD841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212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2011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PROPOSAL · 2 / 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88720" y="4206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ELITECH — Easy-care Everyday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188720" y="9144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Wrinkle-free, low-maintenance fabrics for polos, work shirts &amp; the uniform / B2B channel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517904"/>
            <a:ext cx="3575304" cy="1783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1517904"/>
            <a:ext cx="3575304" cy="178308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3346704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1 · Piqué · polo surface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57200" y="3685032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Easy-care polo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401421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Polos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4251960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 or 60/40 poly-cotton piqué · ~180–200 gsm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4636008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Wrinkle-free · soil-release · colorfast</a:t>
            </a:r>
            <a:endParaRPr lang="en-US" sz="10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06824" y="1517904"/>
            <a:ext cx="3575304" cy="17830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306824" y="1517904"/>
            <a:ext cx="3575304" cy="178308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306824" y="3346704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2 · Poplin · crisp &amp; smooth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306824" y="3685032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/ button work shirt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306824" y="401421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Business-customer · work shirts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306824" y="4251960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Poly-cotton poplin · ~130–160 gsm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306824" y="4636008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Easy-care · durable for frequent wash</a:t>
            </a:r>
            <a:endParaRPr lang="en-US" sz="10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56448" y="1517904"/>
            <a:ext cx="3575304" cy="17830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156448" y="1517904"/>
            <a:ext cx="3575304" cy="178308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156448" y="3346704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3 · Oxford-look · uniform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8156448" y="3685032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work shirt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156448" y="401421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 shirts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156448" y="4251960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Poly-cotton woven · wrinkle-resistant · ~150–180 gsm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156448" y="4636008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Low-maintenance · all-day comfort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57200" y="594360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FBF1E4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594360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r>
              <a:rPr lang="en-US" sz="11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Strauss actively courts Business / uniform buyers but has no marketed easy-care polo platform — open white space.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A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Swatch tiles illustrate fabric direction (internal reference) — replace with real fabric photos. Current-fabric figures from us.strauss.com · suggested specs are Nan Yang proposals.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98448"/>
          </a:xfrm>
          <a:prstGeom prst="rect">
            <a:avLst/>
          </a:prstGeom>
          <a:solidFill>
            <a:srgbClr val="2B36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DD841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212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20116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PROPOSAL · 3 / 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88720" y="4206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DRY-TECH — Moisture &amp; Cooling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188720" y="9144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Wicking, quick-dry knits for tops, base layers &amp; leggings — comfort in heat &amp; humidity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517904"/>
            <a:ext cx="3575304" cy="1783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1517904"/>
            <a:ext cx="3575304" cy="178308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3346704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1 · Flat matte jersey · tee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57200" y="3685032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tee / base layer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401421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Shirts &amp; T-shirts (M+W)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4251960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Poly/Spandex jersey ~90/10 · ~150–160 gsm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4636008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Wicking · quick-dry · cool-touch</a:t>
            </a:r>
            <a:endParaRPr lang="en-US" sz="10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06824" y="1517904"/>
            <a:ext cx="3575304" cy="17830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306824" y="1517904"/>
            <a:ext cx="3575304" cy="178308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306824" y="3346704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2 · Birdseye mesh · breathable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306824" y="3685032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Wicking work shirt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306824" y="401421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e.s.t:aktik shirts · work shirts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306824" y="4251960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Poly + mesh back panel · ~120–150 gsm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306824" y="4636008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Wicking · breathable · anti-odor</a:t>
            </a:r>
            <a:endParaRPr lang="en-US" sz="10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56448" y="1517904"/>
            <a:ext cx="3575304" cy="17830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156448" y="1517904"/>
            <a:ext cx="3575304" cy="178308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156448" y="3346704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3 · Double-knit · stretch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8156448" y="3685032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Women’s performance legging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156448" y="401421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e.s.e:pic · e.s.trail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156448" y="4251960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~88% Nylon / 12% Spandex double-knit · ~240 gsm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156448" y="4636008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· wicking · UPF · Cordura zones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57200" y="594360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FBF1E4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594360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r>
              <a:rPr lang="en-US" sz="11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current tee is basic cotton (~$20) — holds sweat, slow to dry. Dry-Tech wicks and dries fast.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A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Swatch tiles illustrate fabric direction (internal reference) — replace with real fabric photos. Current-fabric figures from us.strauss.com · suggested specs are Nan Yang proposals.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823</Words>
  <Application>Microsoft Office PowerPoint</Application>
  <PresentationFormat>Custom</PresentationFormat>
  <Paragraphs>120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 Yang Fabric Proposals for Strauss</dc:title>
  <dc:subject>PptxGenJS Presentation</dc:subject>
  <dc:creator>Nan Yang Textile Industry Co., Ltd.</dc:creator>
  <cp:lastModifiedBy>Patchara Viyaphon</cp:lastModifiedBy>
  <cp:revision>2</cp:revision>
  <dcterms:created xsi:type="dcterms:W3CDTF">2026-06-17T10:24:13Z</dcterms:created>
  <dcterms:modified xsi:type="dcterms:W3CDTF">2026-06-17T10:33:04Z</dcterms:modified>
</cp:coreProperties>
</file>